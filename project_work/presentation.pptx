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1" r:id="rId2"/>
  </p:sldMasterIdLst>
  <p:notesMasterIdLst>
    <p:notesMasterId r:id="rId19"/>
  </p:notesMasterIdLst>
  <p:sldIdLst>
    <p:sldId id="256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64" r:id="rId16"/>
    <p:sldId id="265" r:id="rId17"/>
    <p:sldId id="266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18D119-8990-42B2-9EB9-783DAF53C799}">
  <a:tblStyle styleId="{AC18D119-8990-42B2-9EB9-783DAF53C7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3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980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93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701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42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2444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599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498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941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0001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028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03878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4" y="1534950"/>
            <a:ext cx="7833545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Автоматический подбор элементов дизайна на основе визуального представления</a:t>
            </a:r>
            <a:endParaRPr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213790"/>
            <a:ext cx="2407800" cy="35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Machine Learning. Professional</a:t>
            </a:r>
            <a:endParaRPr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Защита проекта</a:t>
            </a:r>
            <a:r>
              <a:rPr lang="ru-RU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ru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SzPts val="1100"/>
            </a:pPr>
            <a:b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4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Автоматический подбор элементов дизайна на основе визуального представления</a:t>
            </a:r>
            <a:br>
              <a:rPr lang="ru-RU" sz="24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endParaRPr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5" name="Google Shape;165;p37"/>
          <p:cNvSpPr txBox="1"/>
          <p:nvPr/>
        </p:nvSpPr>
        <p:spPr>
          <a:xfrm>
            <a:off x="366150" y="3532024"/>
            <a:ext cx="4850086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Петрашко Андрей Анатольевич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428911" y="4359207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Medium"/>
              </a:rPr>
              <a:t>г. Томск</a:t>
            </a:r>
            <a:endParaRPr sz="13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45477" y="355901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Цель:</a:t>
            </a:r>
            <a:endParaRPr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9FFA9-CB46-4B33-3736-ABCDE0C9D7CF}"/>
              </a:ext>
            </a:extLst>
          </p:cNvPr>
          <p:cNvSpPr txBox="1"/>
          <p:nvPr/>
        </p:nvSpPr>
        <p:spPr>
          <a:xfrm>
            <a:off x="644236" y="1141836"/>
            <a:ext cx="7640781" cy="303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входе есть изображение пользователя, например дизайн интерьера - пользователь сохранил или сфотографировал то, что ему понравилось. Задача заключается в поиске наиболее похожих изображений в базе данных, тех, которые максимально соответствуют объектам/товарам на изображении пользователя, и выводе информации о каждом из них. База данных предварительно подготовлена и содержит изображения товаров, их описание, цены, ссылки для покупки и т.д.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1800" kern="1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203103"/>
            <a:ext cx="8520600" cy="677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Этапы работы:</a:t>
            </a:r>
            <a:endParaRPr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35A4A-6BB0-8FF8-88B9-7E5654AA9657}"/>
              </a:ext>
            </a:extLst>
          </p:cNvPr>
          <p:cNvSpPr txBox="1"/>
          <p:nvPr/>
        </p:nvSpPr>
        <p:spPr>
          <a:xfrm>
            <a:off x="538550" y="845943"/>
            <a:ext cx="8210595" cy="409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Подготовка 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базы данных с изображениями и описанием товаров: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Подготовка описаний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каждого из товаров в </a:t>
            </a:r>
            <a:r>
              <a:rPr lang="ru-RU" sz="1200" i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Excel 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файле: </a:t>
            </a:r>
            <a:r>
              <a:rPr lang="ru-RU" sz="1200" i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детальное описание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1200" i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цена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1200" i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другая полезная информация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Подготовка изображений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каждого из товаров и сохранение их в отдельной директории.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(1) Преобразование 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изображений </a:t>
            </a: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каждого товара из базы данных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числовые вектора - </a:t>
            </a:r>
            <a:r>
              <a:rPr lang="ru-RU" sz="1200" i="1" kern="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эмбеддинги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Подготовка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изображения пользователя: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Распознавание 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объектов на изображении пользователя </a:t>
            </a: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помощью </a:t>
            </a:r>
            <a:r>
              <a:rPr lang="ru-RU" sz="1200" b="1" i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YOLO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(2) Преобразование 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изображений </a:t>
            </a: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каждого распознанного объекта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в числовые вектора - </a:t>
            </a:r>
            <a:r>
              <a:rPr lang="ru-RU" sz="1200" i="1" kern="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эмбеддинги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Поиск 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наиболее похожих изображений: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Расчёт 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расстояний </a:t>
            </a: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между векторами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(2)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</a:t>
            </a: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(1)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поиска наиболее похожих изображений.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Визуализация и сохранение </a:t>
            </a:r>
            <a:r>
              <a:rPr lang="ru-RU" sz="12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результатов.</a:t>
            </a:r>
          </a:p>
          <a:p>
            <a:endParaRPr lang="ru-RU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2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87913"/>
            <a:ext cx="8520600" cy="400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40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Блок-схема</a:t>
            </a:r>
            <a:endParaRPr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C6C837-6100-45C6-4CE7-6E26E7248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78" y="415636"/>
            <a:ext cx="5940425" cy="4530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98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EF003-0255-5E70-FCA0-ADD8B02598D5}"/>
              </a:ext>
            </a:extLst>
          </p:cNvPr>
          <p:cNvSpPr txBox="1"/>
          <p:nvPr/>
        </p:nvSpPr>
        <p:spPr>
          <a:xfrm>
            <a:off x="500550" y="3144691"/>
            <a:ext cx="81723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Данный угол между векторами может принимать значение в диапазоне от -1 до 1. Результат -1 означает, что вектора противоположны, а 1 означает, что два вектора максимально схожи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04F7FD2-D60A-C783-414C-29F539F2C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 данной задаче для расчета расстояния между векторами изображений используется косинусное расстояние, которое определяет угол между векторами и рассчитывается по формуле:</a:t>
            </a:r>
            <a:endParaRPr lang="ru-RU" b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168FA10-6A05-BD7D-B764-86A768218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95" y="1860901"/>
            <a:ext cx="498221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5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106519"/>
            <a:ext cx="8520600" cy="46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Что получилось на выходе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C34DE-09FD-9FCB-781A-BC8D097EECDC}"/>
              </a:ext>
            </a:extLst>
          </p:cNvPr>
          <p:cNvSpPr txBox="1"/>
          <p:nvPr/>
        </p:nvSpPr>
        <p:spPr>
          <a:xfrm>
            <a:off x="471052" y="560060"/>
            <a:ext cx="8354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входного изображения, сначала происходит распознавание объектов на этом изображении, с помощью нейросети </a:t>
            </a:r>
            <a:r>
              <a:rPr lang="en-US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YOLO</a:t>
            </a: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как показано на рисунке. Распознано три объекта: чашка, кресло и диван.</a:t>
            </a:r>
            <a:endParaRPr lang="ru-RU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DAA342-841B-E584-CD90-9F4353A1C1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7" y="1021695"/>
            <a:ext cx="5940425" cy="3950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30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153232"/>
            <a:ext cx="8520600" cy="553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200" b="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Далее, для каждого из распознанных объектов производится поиск наиболее схожих изображений (с их описанием) в базе данных, например для чашки, как показано на рисунке ниже.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1AF418-0CF0-C8E5-A0D1-D514041662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707200"/>
            <a:ext cx="5706486" cy="42852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8997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258920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заключение, приведу пример разметки тренировочных изображений, для  обучения </a:t>
            </a:r>
            <a:r>
              <a:rPr lang="en-US" sz="14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YOLO</a:t>
            </a:r>
            <a:r>
              <a:rPr lang="ru-RU" sz="14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на собственных данных.</a:t>
            </a:r>
            <a:endParaRPr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A7D459-50F0-1546-0F5C-4E1DE63841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964497"/>
            <a:ext cx="5581650" cy="3723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83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265080"/>
            <a:ext cx="8520600" cy="46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Формат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YOLO</a:t>
            </a:r>
            <a:r>
              <a:rPr lang="ru-R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573081-C8EC-A3CA-8B35-C646053DCF2C}"/>
              </a:ext>
            </a:extLst>
          </p:cNvPr>
          <p:cNvSpPr txBox="1"/>
          <p:nvPr/>
        </p:nvSpPr>
        <p:spPr>
          <a:xfrm>
            <a:off x="538550" y="1034140"/>
            <a:ext cx="5245723" cy="344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Это текстовый файл с координатами объектов.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Имя текстового файла совпадает с именем файла изображения.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Координаты каждого объекта записываются с новой строки.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 начале строки, перед координатами, указывается класс объекта.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Координаты каждого объекта содержат 4 цифры: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Центр объекта по оси X.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Центр объекта по оси Y.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Ширину объекта.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Высоту объекта.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Координаты нормализованы и находятся в диапазоне от 0 до 1.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Все 5 чисел каждой строки отделены друг от друга пробелом.</a:t>
            </a:r>
          </a:p>
        </p:txBody>
      </p:sp>
    </p:spTree>
    <p:extLst>
      <p:ext uri="{BB962C8B-B14F-4D97-AF65-F5344CB8AC3E}">
        <p14:creationId xmlns:p14="http://schemas.microsoft.com/office/powerpoint/2010/main" val="439783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148083"/>
            <a:ext cx="8520600" cy="3693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200" b="0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Пример текстового файла с разметкой.</a:t>
            </a:r>
            <a:endParaRPr sz="12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0BA353-6657-BECF-D954-A07776E013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85" y="570892"/>
            <a:ext cx="4645025" cy="2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5A4EB3-9081-A30C-D60C-2147338BFE84}"/>
              </a:ext>
            </a:extLst>
          </p:cNvPr>
          <p:cNvSpPr txBox="1"/>
          <p:nvPr/>
        </p:nvSpPr>
        <p:spPr>
          <a:xfrm>
            <a:off x="538550" y="289304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Уравнения для нормализации координат:</a:t>
            </a:r>
            <a:endParaRPr lang="ru-RU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08CE78-9506-CA25-6BF7-E14AA8F72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336" y="3323935"/>
            <a:ext cx="22193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27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290945" y="106520"/>
            <a:ext cx="8768205" cy="861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обучения нейронной сети YOLO, у набора данных должна быть своя директория, где будут находиться директории для обучения (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train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валидации (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и тестирования (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а также файл 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yaml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 настройками. В свою очередь, в директориях 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train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должны находится директории 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images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</a:t>
            </a:r>
            <a:r>
              <a:rPr lang="ru-RU" sz="11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labels</a:t>
            </a:r>
            <a:r>
              <a:rPr lang="ru-RU" sz="1100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изображений и текстовых файлов с аннотациями соответственно, как показано на рисунке</a:t>
            </a:r>
            <a:endParaRPr sz="11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AC426B-E175-149E-83D2-1ACAFBD58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063" y="1037536"/>
            <a:ext cx="4661874" cy="388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53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46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Пример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содержимого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yaml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-файла с настройками.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4FEB1-A378-E981-4DD4-37320F3420CF}"/>
              </a:ext>
            </a:extLst>
          </p:cNvPr>
          <p:cNvSpPr txBox="1"/>
          <p:nvPr/>
        </p:nvSpPr>
        <p:spPr>
          <a:xfrm>
            <a:off x="538550" y="1436941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train: ../train/images</a:t>
            </a: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../valid/images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test: ../test/images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nc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5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names: [‘Class 1’, ‘Class 2’, ‘Class 3’, ‘Class 4’, ‘Class 5’]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95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606</Words>
  <Application>Microsoft Office PowerPoint</Application>
  <PresentationFormat>Экран (16:9)</PresentationFormat>
  <Paragraphs>55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Roboto</vt:lpstr>
      <vt:lpstr>Aptos</vt:lpstr>
      <vt:lpstr>Symbol</vt:lpstr>
      <vt:lpstr>Courier New</vt:lpstr>
      <vt:lpstr>Arial</vt:lpstr>
      <vt:lpstr>Светлая тема</vt:lpstr>
      <vt:lpstr>Светлая тема</vt:lpstr>
      <vt:lpstr>Презентация PowerPoint</vt:lpstr>
      <vt:lpstr>Защита проекта:   Автоматический подбор элементов дизайна на основе визуального представления </vt:lpstr>
      <vt:lpstr>Цель:</vt:lpstr>
      <vt:lpstr>Этапы работы:</vt:lpstr>
      <vt:lpstr>Блок-схема</vt:lpstr>
      <vt:lpstr>В данной задаче для расчета расстояния между векторами изображений используется косинусное расстояние, которое определяет угол между векторами и рассчитывается по формуле:</vt:lpstr>
      <vt:lpstr>Что получилось на выходе:</vt:lpstr>
      <vt:lpstr>Далее, для каждого из распознанных объектов производится поиск наиболее схожих изображений (с их описанием) в базе данных, например для чашки, как показано на рисунке ниже.</vt:lpstr>
      <vt:lpstr>В заключение, приведу пример разметки тренировочных изображений, для  обучения YOLO на собственных данных.</vt:lpstr>
      <vt:lpstr>Формат YOLO:</vt:lpstr>
      <vt:lpstr>Пример текстового файла с разметкой.</vt:lpstr>
      <vt:lpstr>Для обучения нейронной сети YOLO, у набора данных должна быть своя директория, где будут находиться директории для обучения (train), валидации (valid) и тестирования (test), а также файл yaml с настройками. В свою очередь, в директориях train, valid и test, должны находится директории images и labels для изображений и текстовых файлов с аннотациями соответственно, как показано на рисунке</vt:lpstr>
      <vt:lpstr>Пример содержимого yaml-файла с настройками.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Andrey</cp:lastModifiedBy>
  <cp:revision>5</cp:revision>
  <dcterms:modified xsi:type="dcterms:W3CDTF">2025-09-15T13:44:18Z</dcterms:modified>
</cp:coreProperties>
</file>